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92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Prim's algorithm: a greedy method that builds a minimum spanning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vertices need exactly four edges. Any more would create a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cut property: the cheapest edge crossing between the tree and the rest is always safe to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3 to 5 repeat V−1 times. The key array always holds the cheapest known connection to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run Prim from vertex A on this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picks: A, then B (2), C (1), D (4), E (6). Total weight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minKey scans the key array for the smallest value among vertices not yet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complexity and how Prim compares with Kruskal.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this deck was generated by Claude, an AI assistant made by Anthropic.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126480" y="548640"/>
            <a:ext cx="4572000" cy="4572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463040" y="3566160"/>
            <a:ext cx="3108960" cy="310896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GRAPHS  ·  GREEDY ALGORITHMS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Prim’s Algorithm</a:t>
            </a:r>
            <a:br>
              <a:rPr lang="en-US" sz="4400" b="1" dirty="0">
                <a:solidFill>
                  <a:schemeClr val="bg1"/>
                </a:solidFill>
              </a:rPr>
            </a:br>
            <a:endParaRPr lang="en-US" sz="44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1668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Growing a minimum spanning tree by always adding the cheapest edge</a:t>
            </a:r>
            <a:endParaRPr lang="en-US" dirty="0"/>
          </a:p>
          <a:p>
            <a:pPr marL="0" indent="0" algn="l">
              <a:buNone/>
            </a:pPr>
            <a:endParaRPr lang="en-US" sz="1800" dirty="0">
              <a:solidFill>
                <a:schemeClr val="bg2"/>
              </a:solidFill>
            </a:endParaRPr>
          </a:p>
          <a:p>
            <a:pPr marL="0" indent="0" algn="l">
              <a:buNone/>
            </a:pPr>
            <a:r>
              <a:rPr lang="en-US" dirty="0"/>
              <a:t>Name : Vedant Thote 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PRN : 25070521056</a:t>
            </a:r>
            <a:br>
              <a:rPr lang="en-US" sz="1800" dirty="0">
                <a:solidFill>
                  <a:schemeClr val="bg2"/>
                </a:solidFill>
              </a:rPr>
            </a:br>
            <a:r>
              <a:rPr lang="en-US" sz="1800" dirty="0">
                <a:solidFill>
                  <a:schemeClr val="bg2"/>
                </a:solidFill>
              </a:rPr>
              <a:t>Topic : Prims Algorithm </a:t>
            </a:r>
          </a:p>
        </p:txBody>
      </p:sp>
      <p:sp>
        <p:nvSpPr>
          <p:cNvPr id="7" name="!!edgeAB"/>
          <p:cNvSpPr/>
          <p:nvPr/>
        </p:nvSpPr>
        <p:spPr>
          <a:xfrm flipV="1">
            <a:off x="7223760" y="1097280"/>
            <a:ext cx="1005840" cy="6400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!!edgeAC"/>
          <p:cNvSpPr/>
          <p:nvPr/>
        </p:nvSpPr>
        <p:spPr>
          <a:xfrm flipV="1">
            <a:off x="7132320" y="1737360"/>
            <a:ext cx="91440" cy="1188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!!edgeBD"/>
          <p:cNvSpPr/>
          <p:nvPr/>
        </p:nvSpPr>
        <p:spPr>
          <a:xfrm>
            <a:off x="8229600" y="1097280"/>
            <a:ext cx="274320" cy="1645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!!edgeCE"/>
          <p:cNvSpPr/>
          <p:nvPr/>
        </p:nvSpPr>
        <p:spPr>
          <a:xfrm>
            <a:off x="7132320" y="2926080"/>
            <a:ext cx="822960" cy="100584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!!nodeA"/>
          <p:cNvSpPr/>
          <p:nvPr/>
        </p:nvSpPr>
        <p:spPr>
          <a:xfrm>
            <a:off x="6949440" y="1463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12" name="!!nodeB"/>
          <p:cNvSpPr/>
          <p:nvPr/>
        </p:nvSpPr>
        <p:spPr>
          <a:xfrm>
            <a:off x="7955280" y="82296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!!nodeC"/>
          <p:cNvSpPr/>
          <p:nvPr/>
        </p:nvSpPr>
        <p:spPr>
          <a:xfrm>
            <a:off x="6858000" y="265176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!!nodeD"/>
          <p:cNvSpPr/>
          <p:nvPr/>
        </p:nvSpPr>
        <p:spPr>
          <a:xfrm>
            <a:off x="8229600" y="246888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!!nodeE"/>
          <p:cNvSpPr/>
          <p:nvPr/>
        </p:nvSpPr>
        <p:spPr>
          <a:xfrm>
            <a:off x="7680960" y="365760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949440" y="-1463040"/>
            <a:ext cx="3108960" cy="310896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097280" y="3657600"/>
            <a:ext cx="2560320" cy="25603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an MST?</a:t>
            </a:r>
            <a:endParaRPr lang="en-US" sz="3600" dirty="0"/>
          </a:p>
        </p:txBody>
      </p:sp>
      <p:sp>
        <p:nvSpPr>
          <p:cNvPr id="5" name="rule0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161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Start with a connected, undirected graph with edge weights</a:t>
            </a:r>
            <a:endParaRPr lang="en-US" sz="1700" dirty="0"/>
          </a:p>
        </p:txBody>
      </p:sp>
      <p:sp>
        <p:nvSpPr>
          <p:cNvPr id="8" name="rule1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848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spanning tree links all V vertices with exactly V−1 edges and no cycles</a:t>
            </a:r>
            <a:endParaRPr lang="en-US" sz="1700" dirty="0"/>
          </a:p>
        </p:txBody>
      </p:sp>
      <p:sp>
        <p:nvSpPr>
          <p:cNvPr id="11" name="rule2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535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minimum one has the smallest total weight</a:t>
            </a:r>
            <a:endParaRPr lang="en-US" sz="1700" dirty="0"/>
          </a:p>
        </p:txBody>
      </p:sp>
      <p:sp>
        <p:nvSpPr>
          <p:cNvPr id="14" name="rule3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221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Used in network cabling, roads and pipelines</a:t>
            </a:r>
            <a:endParaRPr lang="en-US" sz="1700" dirty="0"/>
          </a:p>
        </p:txBody>
      </p:sp>
      <p:sp>
        <p:nvSpPr>
          <p:cNvPr id="17" name="!!edgeAB"/>
          <p:cNvSpPr/>
          <p:nvPr/>
        </p:nvSpPr>
        <p:spPr>
          <a:xfrm flipV="1">
            <a:off x="6492240" y="1645920"/>
            <a:ext cx="1005840" cy="82296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8" name="!!edgeBC"/>
          <p:cNvSpPr/>
          <p:nvPr/>
        </p:nvSpPr>
        <p:spPr>
          <a:xfrm flipV="1">
            <a:off x="7315200" y="1645920"/>
            <a:ext cx="182880" cy="155448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9" name="!!edgeBD"/>
          <p:cNvSpPr/>
          <p:nvPr/>
        </p:nvSpPr>
        <p:spPr>
          <a:xfrm>
            <a:off x="7498080" y="1645920"/>
            <a:ext cx="914400" cy="9144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20" name="!!edgeCE"/>
          <p:cNvSpPr/>
          <p:nvPr/>
        </p:nvSpPr>
        <p:spPr>
          <a:xfrm>
            <a:off x="7315200" y="3200400"/>
            <a:ext cx="914400" cy="9144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21" name="!!nodeA"/>
          <p:cNvSpPr/>
          <p:nvPr/>
        </p:nvSpPr>
        <p:spPr>
          <a:xfrm>
            <a:off x="6217920" y="219456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2" name="!!nodeB"/>
          <p:cNvSpPr/>
          <p:nvPr/>
        </p:nvSpPr>
        <p:spPr>
          <a:xfrm>
            <a:off x="7223760" y="137160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3" name="!!nodeC"/>
          <p:cNvSpPr/>
          <p:nvPr/>
        </p:nvSpPr>
        <p:spPr>
          <a:xfrm>
            <a:off x="7040880" y="292608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4" name="!!nodeD"/>
          <p:cNvSpPr/>
          <p:nvPr/>
        </p:nvSpPr>
        <p:spPr>
          <a:xfrm>
            <a:off x="8138160" y="228600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5" name="!!nodeE"/>
          <p:cNvSpPr/>
          <p:nvPr/>
        </p:nvSpPr>
        <p:spPr>
          <a:xfrm>
            <a:off x="7955280" y="384048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-1371600" y="-164592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3108960" y="4023360"/>
            <a:ext cx="2743200" cy="2743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greedy idea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tree starts as one vertex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Look at every edge leaving the tree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Take the cheapest 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Here that is B–C with weight 1</a:t>
            </a:r>
            <a:endParaRPr lang="en-US" sz="1800" dirty="0"/>
          </a:p>
        </p:txBody>
      </p:sp>
      <p:sp>
        <p:nvSpPr>
          <p:cNvPr id="6" name="boxTree"/>
          <p:cNvSpPr/>
          <p:nvPr/>
        </p:nvSpPr>
        <p:spPr>
          <a:xfrm>
            <a:off x="4160520" y="1325880"/>
            <a:ext cx="1371600" cy="3017520"/>
          </a:xfrm>
          <a:prstGeom prst="roundRect">
            <a:avLst>
              <a:gd name="adj" fmla="val 10000"/>
            </a:avLst>
          </a:prstGeom>
          <a:solidFill>
            <a:schemeClr val="accent5">
              <a:alpha val="4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boxOut"/>
          <p:cNvSpPr/>
          <p:nvPr/>
        </p:nvSpPr>
        <p:spPr>
          <a:xfrm>
            <a:off x="6949440" y="1325880"/>
            <a:ext cx="1645920" cy="30175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rgbClr val="9FB3C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1605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 the tree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Not yet</a:t>
            </a:r>
            <a:endParaRPr lang="en-US" sz="1400" dirty="0"/>
          </a:p>
        </p:txBody>
      </p:sp>
      <p:sp>
        <p:nvSpPr>
          <p:cNvPr id="10" name="!!edgeAB"/>
          <p:cNvSpPr/>
          <p:nvPr/>
        </p:nvSpPr>
        <p:spPr>
          <a:xfrm>
            <a:off x="4846320" y="2103120"/>
            <a:ext cx="0" cy="146304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1" name="!!edgeAC"/>
          <p:cNvSpPr/>
          <p:nvPr/>
        </p:nvSpPr>
        <p:spPr>
          <a:xfrm flipV="1">
            <a:off x="4846320" y="1828800"/>
            <a:ext cx="2926080" cy="27432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12" name="!!edgeBD"/>
          <p:cNvSpPr/>
          <p:nvPr/>
        </p:nvSpPr>
        <p:spPr>
          <a:xfrm flipV="1">
            <a:off x="4846320" y="2743200"/>
            <a:ext cx="2926080" cy="82296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13" name="!!edgeBC"/>
          <p:cNvSpPr/>
          <p:nvPr/>
        </p:nvSpPr>
        <p:spPr>
          <a:xfrm flipV="1">
            <a:off x="4846320" y="1828800"/>
            <a:ext cx="2926080" cy="173736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14" name="!!nodeA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5" name="!!nodeB"/>
          <p:cNvSpPr/>
          <p:nvPr/>
        </p:nvSpPr>
        <p:spPr>
          <a:xfrm>
            <a:off x="4572000" y="329184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6" name="!!nodeC"/>
          <p:cNvSpPr/>
          <p:nvPr/>
        </p:nvSpPr>
        <p:spPr>
          <a:xfrm>
            <a:off x="7498080" y="155448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!!nodeD"/>
          <p:cNvSpPr/>
          <p:nvPr/>
        </p:nvSpPr>
        <p:spPr>
          <a:xfrm>
            <a:off x="7498080" y="246888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!!nodeE"/>
          <p:cNvSpPr/>
          <p:nvPr/>
        </p:nvSpPr>
        <p:spPr>
          <a:xfrm>
            <a:off x="7498080" y="356616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  <p:sp>
        <p:nvSpPr>
          <p:cNvPr id="19" name="!!wAB"/>
          <p:cNvSpPr/>
          <p:nvPr/>
        </p:nvSpPr>
        <p:spPr>
          <a:xfrm>
            <a:off x="467258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!!wAC"/>
          <p:cNvSpPr/>
          <p:nvPr/>
        </p:nvSpPr>
        <p:spPr>
          <a:xfrm>
            <a:off x="6135624" y="179222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!!wBC"/>
          <p:cNvSpPr/>
          <p:nvPr/>
        </p:nvSpPr>
        <p:spPr>
          <a:xfrm>
            <a:off x="6135624" y="252374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!!wBD"/>
          <p:cNvSpPr/>
          <p:nvPr/>
        </p:nvSpPr>
        <p:spPr>
          <a:xfrm>
            <a:off x="6135624" y="298094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949440" y="274320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280160" y="-1371600"/>
            <a:ext cx="2743200" cy="2743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Prim's steps</a:t>
            </a:r>
            <a:endParaRPr lang="en-US" sz="3600" dirty="0"/>
          </a:p>
        </p:txBody>
      </p:sp>
      <p:sp>
        <p:nvSpPr>
          <p:cNvPr id="5" name="stepCard0"/>
          <p:cNvSpPr/>
          <p:nvPr/>
        </p:nvSpPr>
        <p:spPr>
          <a:xfrm>
            <a:off x="548640" y="1280160"/>
            <a:ext cx="73152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tepDot0"/>
          <p:cNvSpPr/>
          <p:nvPr/>
        </p:nvSpPr>
        <p:spPr>
          <a:xfrm>
            <a:off x="658368" y="1362456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2801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Pick any start vertex and put it in the tree</a:t>
            </a:r>
            <a:endParaRPr lang="en-US" sz="1500" dirty="0"/>
          </a:p>
        </p:txBody>
      </p:sp>
      <p:sp>
        <p:nvSpPr>
          <p:cNvPr id="9" name="stepCard1"/>
          <p:cNvSpPr/>
          <p:nvPr/>
        </p:nvSpPr>
        <p:spPr>
          <a:xfrm>
            <a:off x="548640" y="1965960"/>
            <a:ext cx="73152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tepDot1"/>
          <p:cNvSpPr/>
          <p:nvPr/>
        </p:nvSpPr>
        <p:spPr>
          <a:xfrm>
            <a:off x="658368" y="2048256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9659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Give every other vertex a key: the cheapest edge reaching it from the tree</a:t>
            </a:r>
            <a:endParaRPr lang="en-US" sz="1500" dirty="0"/>
          </a:p>
        </p:txBody>
      </p:sp>
      <p:sp>
        <p:nvSpPr>
          <p:cNvPr id="13" name="stepCard2"/>
          <p:cNvSpPr/>
          <p:nvPr/>
        </p:nvSpPr>
        <p:spPr>
          <a:xfrm>
            <a:off x="548640" y="2651760"/>
            <a:ext cx="73152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tepDot2"/>
          <p:cNvSpPr/>
          <p:nvPr/>
        </p:nvSpPr>
        <p:spPr>
          <a:xfrm>
            <a:off x="658368" y="2734056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517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Choose the vertex outside the tree with the smallest key</a:t>
            </a:r>
            <a:endParaRPr lang="en-US" sz="1500" dirty="0"/>
          </a:p>
        </p:txBody>
      </p:sp>
      <p:sp>
        <p:nvSpPr>
          <p:cNvPr id="17" name="stepCard3"/>
          <p:cNvSpPr/>
          <p:nvPr/>
        </p:nvSpPr>
        <p:spPr>
          <a:xfrm>
            <a:off x="548640" y="3337560"/>
            <a:ext cx="73152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tepDot3"/>
          <p:cNvSpPr/>
          <p:nvPr/>
        </p:nvSpPr>
        <p:spPr>
          <a:xfrm>
            <a:off x="658368" y="3419856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3375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it to the tree along with that edge</a:t>
            </a:r>
            <a:endParaRPr lang="en-US" sz="1500" dirty="0"/>
          </a:p>
        </p:txBody>
      </p:sp>
      <p:sp>
        <p:nvSpPr>
          <p:cNvPr id="21" name="stepCard4"/>
          <p:cNvSpPr/>
          <p:nvPr/>
        </p:nvSpPr>
        <p:spPr>
          <a:xfrm>
            <a:off x="548640" y="4023360"/>
            <a:ext cx="73152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tepDot4"/>
          <p:cNvSpPr/>
          <p:nvPr/>
        </p:nvSpPr>
        <p:spPr>
          <a:xfrm>
            <a:off x="658368" y="41056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0233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Update the keys of its neighbours, then repeat until all V vertices are in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5852160" y="-1645920"/>
            <a:ext cx="3840480" cy="384048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371600" y="365760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Our example graph</a:t>
            </a:r>
            <a:endParaRPr lang="en-US" sz="3600" dirty="0"/>
          </a:p>
        </p:txBody>
      </p:sp>
      <p:sp>
        <p:nvSpPr>
          <p:cNvPr id="5" name="!!edgeAB"/>
          <p:cNvSpPr/>
          <p:nvPr/>
        </p:nvSpPr>
        <p:spPr>
          <a:xfrm flipV="1">
            <a:off x="1188720" y="1645920"/>
            <a:ext cx="1463040" cy="118872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6" name="!!edgeAC"/>
          <p:cNvSpPr/>
          <p:nvPr/>
        </p:nvSpPr>
        <p:spPr>
          <a:xfrm>
            <a:off x="1188720" y="2834640"/>
            <a:ext cx="1463040" cy="118872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7" name="!!edgeBC"/>
          <p:cNvSpPr/>
          <p:nvPr/>
        </p:nvSpPr>
        <p:spPr>
          <a:xfrm>
            <a:off x="2651760" y="1645920"/>
            <a:ext cx="0" cy="237744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8" name="!!edgeBD"/>
          <p:cNvSpPr/>
          <p:nvPr/>
        </p:nvSpPr>
        <p:spPr>
          <a:xfrm>
            <a:off x="2651760" y="1645920"/>
            <a:ext cx="1828800" cy="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9" name="!!edgeCD"/>
          <p:cNvSpPr/>
          <p:nvPr/>
        </p:nvSpPr>
        <p:spPr>
          <a:xfrm flipV="1">
            <a:off x="2651760" y="1645920"/>
            <a:ext cx="1828800" cy="237744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10" name="!!edgeCE"/>
          <p:cNvSpPr/>
          <p:nvPr/>
        </p:nvSpPr>
        <p:spPr>
          <a:xfrm>
            <a:off x="2651760" y="4023360"/>
            <a:ext cx="1920240" cy="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11" name="!!edgeDE"/>
          <p:cNvSpPr/>
          <p:nvPr/>
        </p:nvSpPr>
        <p:spPr>
          <a:xfrm>
            <a:off x="4480560" y="1645920"/>
            <a:ext cx="91440" cy="2377440"/>
          </a:xfrm>
          <a:prstGeom prst="line">
            <a:avLst/>
          </a:prstGeom>
          <a:noFill/>
          <a:ln w="25400">
            <a:solidFill>
              <a:srgbClr val="9FB3C0"/>
            </a:solidFill>
            <a:prstDash val="solid"/>
          </a:ln>
        </p:spPr>
      </p:sp>
      <p:sp>
        <p:nvSpPr>
          <p:cNvPr id="12" name="!!nodeA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13" name="!!nodeB"/>
          <p:cNvSpPr/>
          <p:nvPr/>
        </p:nvSpPr>
        <p:spPr>
          <a:xfrm>
            <a:off x="2377440" y="137160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!!nodeC"/>
          <p:cNvSpPr/>
          <p:nvPr/>
        </p:nvSpPr>
        <p:spPr>
          <a:xfrm>
            <a:off x="2377440" y="3749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!!nodeD"/>
          <p:cNvSpPr/>
          <p:nvPr/>
        </p:nvSpPr>
        <p:spPr>
          <a:xfrm>
            <a:off x="4206240" y="137160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16" name="!!nodeE"/>
          <p:cNvSpPr/>
          <p:nvPr/>
        </p:nvSpPr>
        <p:spPr>
          <a:xfrm>
            <a:off x="4297680" y="3749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  <p:sp>
        <p:nvSpPr>
          <p:cNvPr id="17" name="!!wAB"/>
          <p:cNvSpPr/>
          <p:nvPr/>
        </p:nvSpPr>
        <p:spPr>
          <a:xfrm>
            <a:off x="1746504" y="206654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!!wAC"/>
          <p:cNvSpPr/>
          <p:nvPr/>
        </p:nvSpPr>
        <p:spPr>
          <a:xfrm>
            <a:off x="1746504" y="325526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!!wBC"/>
          <p:cNvSpPr/>
          <p:nvPr/>
        </p:nvSpPr>
        <p:spPr>
          <a:xfrm>
            <a:off x="247802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!!wBD"/>
          <p:cNvSpPr/>
          <p:nvPr/>
        </p:nvSpPr>
        <p:spPr>
          <a:xfrm>
            <a:off x="3392424" y="147218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!!wCD"/>
          <p:cNvSpPr/>
          <p:nvPr/>
        </p:nvSpPr>
        <p:spPr>
          <a:xfrm>
            <a:off x="339242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!!wCE"/>
          <p:cNvSpPr/>
          <p:nvPr/>
        </p:nvSpPr>
        <p:spPr>
          <a:xfrm>
            <a:off x="3438144" y="384962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!!wDE"/>
          <p:cNvSpPr/>
          <p:nvPr/>
        </p:nvSpPr>
        <p:spPr>
          <a:xfrm>
            <a:off x="435254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15544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 vertices and 7 edges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Numbers on edges are weights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Start at vertex 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MST needs 4 edges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-1645920" y="329184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7315200" y="-109728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Prim in action</a:t>
            </a:r>
            <a:endParaRPr lang="en-US" sz="3600" dirty="0"/>
          </a:p>
        </p:txBody>
      </p:sp>
      <p:sp>
        <p:nvSpPr>
          <p:cNvPr id="5" name="!!edgeAC"/>
          <p:cNvSpPr/>
          <p:nvPr/>
        </p:nvSpPr>
        <p:spPr>
          <a:xfrm>
            <a:off x="1188720" y="2834640"/>
            <a:ext cx="1463040" cy="1188720"/>
          </a:xfrm>
          <a:prstGeom prst="line">
            <a:avLst/>
          </a:prstGeom>
          <a:noFill/>
          <a:ln w="19050">
            <a:solidFill>
              <a:srgbClr val="9FB3C0"/>
            </a:solidFill>
            <a:prstDash val="dash"/>
          </a:ln>
        </p:spPr>
      </p:sp>
      <p:sp>
        <p:nvSpPr>
          <p:cNvPr id="6" name="!!edgeCD"/>
          <p:cNvSpPr/>
          <p:nvPr/>
        </p:nvSpPr>
        <p:spPr>
          <a:xfrm flipV="1">
            <a:off x="2651760" y="1645920"/>
            <a:ext cx="1828800" cy="2377440"/>
          </a:xfrm>
          <a:prstGeom prst="line">
            <a:avLst/>
          </a:prstGeom>
          <a:noFill/>
          <a:ln w="19050">
            <a:solidFill>
              <a:srgbClr val="9FB3C0"/>
            </a:solidFill>
            <a:prstDash val="dash"/>
          </a:ln>
        </p:spPr>
      </p:sp>
      <p:sp>
        <p:nvSpPr>
          <p:cNvPr id="7" name="!!edgeDE"/>
          <p:cNvSpPr/>
          <p:nvPr/>
        </p:nvSpPr>
        <p:spPr>
          <a:xfrm>
            <a:off x="4480560" y="1645920"/>
            <a:ext cx="91440" cy="2377440"/>
          </a:xfrm>
          <a:prstGeom prst="line">
            <a:avLst/>
          </a:prstGeom>
          <a:noFill/>
          <a:ln w="19050">
            <a:solidFill>
              <a:srgbClr val="9FB3C0"/>
            </a:solidFill>
            <a:prstDash val="dash"/>
          </a:ln>
        </p:spPr>
      </p:sp>
      <p:sp>
        <p:nvSpPr>
          <p:cNvPr id="8" name="!!edgeAB"/>
          <p:cNvSpPr/>
          <p:nvPr/>
        </p:nvSpPr>
        <p:spPr>
          <a:xfrm flipV="1">
            <a:off x="1188720" y="1645920"/>
            <a:ext cx="1463040" cy="118872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9" name="!!edgeBC"/>
          <p:cNvSpPr/>
          <p:nvPr/>
        </p:nvSpPr>
        <p:spPr>
          <a:xfrm>
            <a:off x="2651760" y="1645920"/>
            <a:ext cx="0" cy="237744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0" name="!!edgeBD"/>
          <p:cNvSpPr/>
          <p:nvPr/>
        </p:nvSpPr>
        <p:spPr>
          <a:xfrm>
            <a:off x="2651760" y="1645920"/>
            <a:ext cx="182880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1" name="!!edgeCE"/>
          <p:cNvSpPr/>
          <p:nvPr/>
        </p:nvSpPr>
        <p:spPr>
          <a:xfrm>
            <a:off x="2651760" y="4023360"/>
            <a:ext cx="192024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2" name="!!nodeA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13" name="!!nodeB"/>
          <p:cNvSpPr/>
          <p:nvPr/>
        </p:nvSpPr>
        <p:spPr>
          <a:xfrm>
            <a:off x="2377440" y="137160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!!nodeC"/>
          <p:cNvSpPr/>
          <p:nvPr/>
        </p:nvSpPr>
        <p:spPr>
          <a:xfrm>
            <a:off x="2377440" y="374904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!!nodeD"/>
          <p:cNvSpPr/>
          <p:nvPr/>
        </p:nvSpPr>
        <p:spPr>
          <a:xfrm>
            <a:off x="4206240" y="137160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6" name="!!nodeE"/>
          <p:cNvSpPr/>
          <p:nvPr/>
        </p:nvSpPr>
        <p:spPr>
          <a:xfrm>
            <a:off x="4297680" y="374904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7" name="!!wAB"/>
          <p:cNvSpPr/>
          <p:nvPr/>
        </p:nvSpPr>
        <p:spPr>
          <a:xfrm>
            <a:off x="1746504" y="206654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!!wAC"/>
          <p:cNvSpPr/>
          <p:nvPr/>
        </p:nvSpPr>
        <p:spPr>
          <a:xfrm>
            <a:off x="1746504" y="325526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!!wBC"/>
          <p:cNvSpPr/>
          <p:nvPr/>
        </p:nvSpPr>
        <p:spPr>
          <a:xfrm>
            <a:off x="247802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!!wBD"/>
          <p:cNvSpPr/>
          <p:nvPr/>
        </p:nvSpPr>
        <p:spPr>
          <a:xfrm>
            <a:off x="3392424" y="147218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!!wCD"/>
          <p:cNvSpPr/>
          <p:nvPr/>
        </p:nvSpPr>
        <p:spPr>
          <a:xfrm>
            <a:off x="339242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!!wCE"/>
          <p:cNvSpPr/>
          <p:nvPr/>
        </p:nvSpPr>
        <p:spPr>
          <a:xfrm>
            <a:off x="3438144" y="384962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!!wDE"/>
          <p:cNvSpPr/>
          <p:nvPr/>
        </p:nvSpPr>
        <p:spPr>
          <a:xfrm>
            <a:off x="4352544" y="2660904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rgbClr val="9FB3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3108960" cy="2560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Add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Via edge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A–B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B–C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B–D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C–E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54864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Skipped: A–C, C–D, D–E (they would form cycles)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7315200" y="-1371600"/>
            <a:ext cx="3108960" cy="310896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3200400" y="393192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 code</a:t>
            </a:r>
            <a:endParaRPr lang="en-US" sz="3600" dirty="0"/>
          </a:p>
        </p:txBody>
      </p:sp>
      <p:sp>
        <p:nvSpPr>
          <p:cNvPr id="5" name="cardCode"/>
          <p:cNvSpPr/>
          <p:nvPr/>
        </p:nvSpPr>
        <p:spPr>
          <a:xfrm>
            <a:off x="548640" y="1280160"/>
            <a:ext cx="5760720" cy="265176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key[0] = 0;  parent[0] = -1;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c = 0; c &lt; V - 1; c++)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u = minKey(key, inMST);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inMST[u] = 1;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v = 0; v &lt; V; v++)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(g[u][v] &amp;&amp; !inMST[v] &amp;&amp; g[u][v] &lt; key[v])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parent[v] = u;  key[v] = g[u][v];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g is a V×V adjacency matrix where 0 means no edge. key[] starts at infinity.</a:t>
            </a:r>
            <a:endParaRPr lang="en-US" sz="1400" dirty="0"/>
          </a:p>
        </p:txBody>
      </p:sp>
      <p:sp>
        <p:nvSpPr>
          <p:cNvPr id="8" name="codeDot0"/>
          <p:cNvSpPr/>
          <p:nvPr/>
        </p:nvSpPr>
        <p:spPr>
          <a:xfrm>
            <a:off x="653796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280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minKey finds the cheapest vertex outside</a:t>
            </a:r>
            <a:endParaRPr lang="en-US" sz="1400" dirty="0"/>
          </a:p>
        </p:txBody>
      </p:sp>
      <p:sp>
        <p:nvSpPr>
          <p:cNvPr id="11" name="codeDot1"/>
          <p:cNvSpPr/>
          <p:nvPr/>
        </p:nvSpPr>
        <p:spPr>
          <a:xfrm>
            <a:off x="6537960" y="2377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update keys of its neighbours</a:t>
            </a:r>
            <a:endParaRPr lang="en-US" sz="1400" dirty="0"/>
          </a:p>
        </p:txBody>
      </p:sp>
      <p:sp>
        <p:nvSpPr>
          <p:cNvPr id="14" name="codeDot2"/>
          <p:cNvSpPr/>
          <p:nvPr/>
        </p:nvSpPr>
        <p:spPr>
          <a:xfrm>
            <a:off x="6537960" y="3429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383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parent[] holds the MST edges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7132320" y="3108960"/>
            <a:ext cx="3840480" cy="384048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371600" y="-1371600"/>
            <a:ext cx="2926080" cy="292608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5" name="stat0"/>
          <p:cNvSpPr/>
          <p:nvPr/>
        </p:nvSpPr>
        <p:spPr>
          <a:xfrm>
            <a:off x="5486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32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with an adjacency matrix</a:t>
            </a:r>
            <a:endParaRPr lang="en-US" sz="3200" dirty="0"/>
          </a:p>
        </p:txBody>
      </p:sp>
      <p:sp>
        <p:nvSpPr>
          <p:cNvPr id="7" name="stat1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log V)</a:t>
            </a:r>
            <a:endParaRPr lang="en-US" sz="32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with a min-heap</a:t>
            </a:r>
            <a:endParaRPr lang="en-US" sz="3200" dirty="0"/>
          </a:p>
        </p:txBody>
      </p:sp>
      <p:sp>
        <p:nvSpPr>
          <p:cNvPr id="9" name="stat2"/>
          <p:cNvSpPr/>
          <p:nvPr/>
        </p:nvSpPr>
        <p:spPr>
          <a:xfrm>
            <a:off x="60350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V−1</a:t>
            </a:r>
            <a:endParaRPr lang="en-US" sz="32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edges in every MST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Greedy: always add the cheapest edge leaving the tree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Needs a connected, undirected, weighted graph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Kruskal sorts edges; Prim grows one tree, which suits dense graphs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126480" y="548640"/>
            <a:ext cx="4572000" cy="4572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463040" y="3566160"/>
            <a:ext cx="3108960" cy="310896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1" y="61871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THANK YOU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1" y="1213079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Made with Claude</a:t>
            </a:r>
            <a:endParaRPr lang="en-US" sz="44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1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This presentation was created by Claude, an AI assistant built by Anthropic.</a:t>
            </a:r>
          </a:p>
          <a:p>
            <a:pPr marL="0" indent="0" algn="l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m">
  <a:themeElements>
    <a:clrScheme name="Prim">
      <a:dk1>
        <a:srgbClr val="0B1F33"/>
      </a:dk1>
      <a:lt1>
        <a:srgbClr val="FFFFFF"/>
      </a:lt1>
      <a:dk2>
        <a:srgbClr val="12344D"/>
      </a:dk2>
      <a:lt2>
        <a:srgbClr val="F3F8FA"/>
      </a:lt2>
      <a:accent1>
        <a:srgbClr val="F5A623"/>
      </a:accent1>
      <a:accent2>
        <a:srgbClr val="1FA9A0"/>
      </a:accent2>
      <a:accent3>
        <a:srgbClr val="E4572E"/>
      </a:accent3>
      <a:accent4>
        <a:srgbClr val="5B8DB8"/>
      </a:accent4>
      <a:accent5>
        <a:srgbClr val="8FD3C8"/>
      </a:accent5>
      <a:accent6>
        <a:srgbClr val="6B7A8F"/>
      </a:accent6>
      <a:hlink>
        <a:srgbClr val="1FA9A0"/>
      </a:hlink>
      <a:folHlink>
        <a:srgbClr val="6B7A8F"/>
      </a:folHlink>
    </a:clrScheme>
    <a:fontScheme name="Pri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697</Words>
  <Application>Microsoft Office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</vt:lpstr>
      <vt:lpstr>Courier New</vt:lpstr>
      <vt:lpstr>Prim</vt:lpstr>
      <vt:lpstr>Prim’s Algorithm </vt:lpstr>
      <vt:lpstr>What is an MST?</vt:lpstr>
      <vt:lpstr>The greedy idea</vt:lpstr>
      <vt:lpstr>Prim's steps</vt:lpstr>
      <vt:lpstr>Our example graph</vt:lpstr>
      <vt:lpstr>Prim in action</vt:lpstr>
      <vt:lpstr>The C code</vt:lpstr>
      <vt:lpstr>Key takeaways</vt:lpstr>
      <vt:lpstr>Made with Claude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</dc:title>
  <dc:subject>PptxGenJS Presentation</dc:subject>
  <dc:creator>PptxGenJS</dc:creator>
  <cp:lastModifiedBy>vedant thote</cp:lastModifiedBy>
  <cp:revision>3</cp:revision>
  <dcterms:created xsi:type="dcterms:W3CDTF">2026-10-16T06:13:42Z</dcterms:created>
  <dcterms:modified xsi:type="dcterms:W3CDTF">2026-10-16T11:10:59Z</dcterms:modified>
</cp:coreProperties>
</file>